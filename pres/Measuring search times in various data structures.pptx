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Nunito"/>
      <p:regular r:id="rId26"/>
      <p:bold r:id="rId27"/>
      <p:italic r:id="rId28"/>
      <p:boldItalic r:id="rId29"/>
    </p:embeddedFont>
    <p:embeddedFont>
      <p:font typeface="Maven Pro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regular.fntdata"/><Relationship Id="rId25" Type="http://schemas.openxmlformats.org/officeDocument/2006/relationships/slide" Target="slides/slide20.xml"/><Relationship Id="rId28" Type="http://schemas.openxmlformats.org/officeDocument/2006/relationships/font" Target="fonts/Nunito-italic.fntdata"/><Relationship Id="rId27" Type="http://schemas.openxmlformats.org/officeDocument/2006/relationships/font" Target="fonts/Nuni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avenPro-bold.fntdata"/><Relationship Id="rId30" Type="http://schemas.openxmlformats.org/officeDocument/2006/relationships/font" Target="fonts/MavenPro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e1bfdb8a46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e1bfdb8a46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e1bfdb8a46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e1bfdb8a46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e1bfdb8a46_0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e1bfdb8a46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e1bfdb8a46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e1bfdb8a46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e1bfdb8a46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e1bfdb8a46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e1bfdb8a46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e1bfdb8a46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e1bfdb8a46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e1bfdb8a46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e1bfdb8a46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e1bfdb8a46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e1bfdb8a46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e1bfdb8a46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e1bfdb8a46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e1bfdb8a46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e1bfdb8a46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e1bfdb8a46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e1bfdb8a46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e1bfdb8a46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e1bfdb8a46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e1bfdb8a46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e1bfdb8a46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e1bfdb8a46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e1bfdb8a46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e1bfdb8a46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e1bfdb8a46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e1bfdb8a46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e1bfdb8a46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e1bfdb8a46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e1bfdb8a46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e1bfdb8a46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e1bfdb8a4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e1bfdb8a4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Measuring search times in various data structures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István Finta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The Data Structures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990050"/>
            <a:ext cx="33378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The standard library: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4"/>
          <p:cNvSpPr txBox="1"/>
          <p:nvPr>
            <p:ph idx="1" type="body"/>
          </p:nvPr>
        </p:nvSpPr>
        <p:spPr>
          <a:xfrm>
            <a:off x="4996500" y="1990050"/>
            <a:ext cx="33378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My own: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The Data Structures</a:t>
            </a:r>
            <a:endParaRPr/>
          </a:p>
        </p:txBody>
      </p:sp>
      <p:sp>
        <p:nvSpPr>
          <p:cNvPr id="291" name="Google Shape;291;p15"/>
          <p:cNvSpPr txBox="1"/>
          <p:nvPr>
            <p:ph idx="1" type="body"/>
          </p:nvPr>
        </p:nvSpPr>
        <p:spPr>
          <a:xfrm>
            <a:off x="1303800" y="1990050"/>
            <a:ext cx="33378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The standard library: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std::map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hu"/>
              <a:t>Red&amp;black tree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5"/>
          <p:cNvSpPr txBox="1"/>
          <p:nvPr>
            <p:ph idx="1" type="body"/>
          </p:nvPr>
        </p:nvSpPr>
        <p:spPr>
          <a:xfrm>
            <a:off x="4996500" y="1990050"/>
            <a:ext cx="33378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My own: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The Data Structures</a:t>
            </a:r>
            <a:endParaRPr/>
          </a:p>
        </p:txBody>
      </p:sp>
      <p:sp>
        <p:nvSpPr>
          <p:cNvPr id="298" name="Google Shape;298;p16"/>
          <p:cNvSpPr txBox="1"/>
          <p:nvPr>
            <p:ph idx="1" type="body"/>
          </p:nvPr>
        </p:nvSpPr>
        <p:spPr>
          <a:xfrm>
            <a:off x="1303800" y="1990050"/>
            <a:ext cx="33378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The standard library: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std::map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hu"/>
              <a:t>Red&amp;black tree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std::unordered_map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hu"/>
              <a:t>Hashmap with buckets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hu"/>
              <a:t>Each bucket is a linked list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hu"/>
              <a:t>Tested both with its dynamically calculated bucket count and various manually set values</a:t>
            </a:r>
            <a:endParaRPr/>
          </a:p>
        </p:txBody>
      </p:sp>
      <p:sp>
        <p:nvSpPr>
          <p:cNvPr id="299" name="Google Shape;299;p16"/>
          <p:cNvSpPr txBox="1"/>
          <p:nvPr>
            <p:ph idx="1" type="body"/>
          </p:nvPr>
        </p:nvSpPr>
        <p:spPr>
          <a:xfrm>
            <a:off x="4996500" y="1990050"/>
            <a:ext cx="33378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My own: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The Data Structures</a:t>
            </a:r>
            <a:endParaRPr/>
          </a:p>
        </p:txBody>
      </p:sp>
      <p:sp>
        <p:nvSpPr>
          <p:cNvPr id="305" name="Google Shape;305;p17"/>
          <p:cNvSpPr txBox="1"/>
          <p:nvPr>
            <p:ph idx="1" type="body"/>
          </p:nvPr>
        </p:nvSpPr>
        <p:spPr>
          <a:xfrm>
            <a:off x="1303800" y="1990050"/>
            <a:ext cx="33378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The standard library: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std::map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hu"/>
              <a:t>Red&amp;black tree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std::unordered_map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hu"/>
              <a:t>Hashmap with buckets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hu"/>
              <a:t>Each bucket is a linked list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hu"/>
              <a:t>Tested both with its dynamically calculated bucket count and various manually set values</a:t>
            </a:r>
            <a:endParaRPr/>
          </a:p>
        </p:txBody>
      </p:sp>
      <p:sp>
        <p:nvSpPr>
          <p:cNvPr id="306" name="Google Shape;306;p17"/>
          <p:cNvSpPr txBox="1"/>
          <p:nvPr>
            <p:ph idx="1" type="body"/>
          </p:nvPr>
        </p:nvSpPr>
        <p:spPr>
          <a:xfrm>
            <a:off x="4996500" y="1990050"/>
            <a:ext cx="33378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My own: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BinTree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hu"/>
              <a:t>Simple binary tree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hu"/>
              <a:t>Stores data on the heap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The Data Structures</a:t>
            </a:r>
            <a:endParaRPr/>
          </a:p>
        </p:txBody>
      </p:sp>
      <p:sp>
        <p:nvSpPr>
          <p:cNvPr id="312" name="Google Shape;312;p18"/>
          <p:cNvSpPr txBox="1"/>
          <p:nvPr>
            <p:ph idx="1" type="body"/>
          </p:nvPr>
        </p:nvSpPr>
        <p:spPr>
          <a:xfrm>
            <a:off x="1303800" y="1990050"/>
            <a:ext cx="33378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The standard library: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std::map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hu"/>
              <a:t>Red&amp;black tree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std::unordered_map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hu"/>
              <a:t>Hashmap with buckets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hu"/>
              <a:t>Each bucket is a linked list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hu"/>
              <a:t>Tested both with its dynamically calculated bucket count and various manually set values</a:t>
            </a:r>
            <a:endParaRPr/>
          </a:p>
        </p:txBody>
      </p:sp>
      <p:sp>
        <p:nvSpPr>
          <p:cNvPr id="313" name="Google Shape;313;p18"/>
          <p:cNvSpPr txBox="1"/>
          <p:nvPr>
            <p:ph idx="1" type="body"/>
          </p:nvPr>
        </p:nvSpPr>
        <p:spPr>
          <a:xfrm>
            <a:off x="4996500" y="1990050"/>
            <a:ext cx="33378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My own: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BinTree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hu"/>
              <a:t>Simple binary tree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hu"/>
              <a:t>Stores data on the heap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BinTreeCont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hu"/>
              <a:t>Very similar to BinTree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hu"/>
              <a:t>The only difference is that it stores its Nodes in an std::vector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Node</a:t>
            </a:r>
            <a:endParaRPr/>
          </a:p>
        </p:txBody>
      </p:sp>
      <p:sp>
        <p:nvSpPr>
          <p:cNvPr id="319" name="Google Shape;319;p19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Extremely simple: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One key (uint64_t)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Two pointers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hu"/>
              <a:t>This was used in all data structures, even ones that didn’t need it (which was most of them)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The Benchmark</a:t>
            </a:r>
            <a:endParaRPr/>
          </a:p>
        </p:txBody>
      </p:sp>
      <p:sp>
        <p:nvSpPr>
          <p:cNvPr id="325" name="Google Shape;325;p20"/>
          <p:cNvSpPr txBox="1"/>
          <p:nvPr>
            <p:ph idx="1" type="body"/>
          </p:nvPr>
        </p:nvSpPr>
        <p:spPr>
          <a:xfrm>
            <a:off x="1303800" y="1990050"/>
            <a:ext cx="31608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Creating the benchmark: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One C++ file (+1 header)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nanobench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One bash script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0"/>
          <p:cNvSpPr txBox="1"/>
          <p:nvPr>
            <p:ph idx="1" type="body"/>
          </p:nvPr>
        </p:nvSpPr>
        <p:spPr>
          <a:xfrm>
            <a:off x="4996500" y="1990050"/>
            <a:ext cx="33378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The Benchmark</a:t>
            </a:r>
            <a:endParaRPr/>
          </a:p>
        </p:txBody>
      </p:sp>
      <p:sp>
        <p:nvSpPr>
          <p:cNvPr id="332" name="Google Shape;332;p21"/>
          <p:cNvSpPr txBox="1"/>
          <p:nvPr>
            <p:ph idx="1" type="body"/>
          </p:nvPr>
        </p:nvSpPr>
        <p:spPr>
          <a:xfrm>
            <a:off x="1303800" y="1990050"/>
            <a:ext cx="31608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Creating the benchmark: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One C++ file (+1 header)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nanobench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One bash script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/>
              <a:t>Parameters: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Node count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Test iterations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Custom bucket count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Generator and tester seeds</a:t>
            </a:r>
            <a:endParaRPr/>
          </a:p>
        </p:txBody>
      </p:sp>
      <p:sp>
        <p:nvSpPr>
          <p:cNvPr id="333" name="Google Shape;333;p21"/>
          <p:cNvSpPr txBox="1"/>
          <p:nvPr>
            <p:ph idx="1" type="body"/>
          </p:nvPr>
        </p:nvSpPr>
        <p:spPr>
          <a:xfrm>
            <a:off x="4996500" y="1990050"/>
            <a:ext cx="33378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The Benchmark</a:t>
            </a:r>
            <a:endParaRPr/>
          </a:p>
        </p:txBody>
      </p:sp>
      <p:sp>
        <p:nvSpPr>
          <p:cNvPr id="339" name="Google Shape;339;p22"/>
          <p:cNvSpPr txBox="1"/>
          <p:nvPr>
            <p:ph idx="1" type="body"/>
          </p:nvPr>
        </p:nvSpPr>
        <p:spPr>
          <a:xfrm>
            <a:off x="1303800" y="1990050"/>
            <a:ext cx="31608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Creating the benchmark: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One C++ file (+1 header)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nanobench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One bash script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/>
              <a:t>Parameters: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Node count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Test iterations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Custom bucket count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Generator and tester seeds</a:t>
            </a:r>
            <a:endParaRPr/>
          </a:p>
        </p:txBody>
      </p:sp>
      <p:sp>
        <p:nvSpPr>
          <p:cNvPr id="340" name="Google Shape;340;p22"/>
          <p:cNvSpPr txBox="1"/>
          <p:nvPr>
            <p:ph idx="1" type="body"/>
          </p:nvPr>
        </p:nvSpPr>
        <p:spPr>
          <a:xfrm>
            <a:off x="4996500" y="1990050"/>
            <a:ext cx="33378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Running the benchmark: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If it takes too long, the system terminates it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The Benchmark</a:t>
            </a:r>
            <a:endParaRPr/>
          </a:p>
        </p:txBody>
      </p:sp>
      <p:sp>
        <p:nvSpPr>
          <p:cNvPr id="346" name="Google Shape;346;p23"/>
          <p:cNvSpPr txBox="1"/>
          <p:nvPr>
            <p:ph idx="1" type="body"/>
          </p:nvPr>
        </p:nvSpPr>
        <p:spPr>
          <a:xfrm>
            <a:off x="1303800" y="1990050"/>
            <a:ext cx="31608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Creating the benchmark: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One C++ file (+1 header)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nanobench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One bash script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/>
              <a:t>Parameters: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Node count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Test iterations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Custom bucket count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Generator and tester seeds</a:t>
            </a:r>
            <a:endParaRPr/>
          </a:p>
        </p:txBody>
      </p:sp>
      <p:sp>
        <p:nvSpPr>
          <p:cNvPr id="347" name="Google Shape;347;p23"/>
          <p:cNvSpPr txBox="1"/>
          <p:nvPr>
            <p:ph idx="1" type="body"/>
          </p:nvPr>
        </p:nvSpPr>
        <p:spPr>
          <a:xfrm>
            <a:off x="4996500" y="1990050"/>
            <a:ext cx="33378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Running the benchmark: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If it takes too long, the system terminates it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Three steps: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hu"/>
              <a:t>Hardcode parameters into bash script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The Benchmark</a:t>
            </a:r>
            <a:endParaRPr/>
          </a:p>
        </p:txBody>
      </p:sp>
      <p:sp>
        <p:nvSpPr>
          <p:cNvPr id="353" name="Google Shape;353;p24"/>
          <p:cNvSpPr txBox="1"/>
          <p:nvPr>
            <p:ph idx="1" type="body"/>
          </p:nvPr>
        </p:nvSpPr>
        <p:spPr>
          <a:xfrm>
            <a:off x="1303800" y="1990050"/>
            <a:ext cx="31608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Creating the benchmark: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One C++ file (+1 header)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nanobench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One bash script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/>
              <a:t>Parameters: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Node count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Test iterations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Custom bucket count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Generator and tester seeds</a:t>
            </a:r>
            <a:endParaRPr/>
          </a:p>
        </p:txBody>
      </p:sp>
      <p:sp>
        <p:nvSpPr>
          <p:cNvPr id="354" name="Google Shape;354;p24"/>
          <p:cNvSpPr txBox="1"/>
          <p:nvPr>
            <p:ph idx="1" type="body"/>
          </p:nvPr>
        </p:nvSpPr>
        <p:spPr>
          <a:xfrm>
            <a:off x="4996500" y="1990050"/>
            <a:ext cx="33378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Running the benchmark: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If it takes too long, the system terminates it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Three steps: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hu"/>
              <a:t>Hardcode parameters into bash script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hu"/>
              <a:t>Run small batch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The Benchmark</a:t>
            </a:r>
            <a:endParaRPr/>
          </a:p>
        </p:txBody>
      </p:sp>
      <p:sp>
        <p:nvSpPr>
          <p:cNvPr id="360" name="Google Shape;360;p25"/>
          <p:cNvSpPr txBox="1"/>
          <p:nvPr>
            <p:ph idx="1" type="body"/>
          </p:nvPr>
        </p:nvSpPr>
        <p:spPr>
          <a:xfrm>
            <a:off x="1303800" y="1990050"/>
            <a:ext cx="31608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Creating the benchmark: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One C++ file (+1 header)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nanobench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One bash script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/>
              <a:t>Parameters: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Node count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Test iterations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Custom bucket count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Generator and tester seeds</a:t>
            </a:r>
            <a:endParaRPr/>
          </a:p>
        </p:txBody>
      </p:sp>
      <p:sp>
        <p:nvSpPr>
          <p:cNvPr id="361" name="Google Shape;361;p25"/>
          <p:cNvSpPr txBox="1"/>
          <p:nvPr>
            <p:ph idx="1" type="body"/>
          </p:nvPr>
        </p:nvSpPr>
        <p:spPr>
          <a:xfrm>
            <a:off x="4996500" y="1990050"/>
            <a:ext cx="33378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Running the benchmark: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If it takes too long, the system terminates it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Three steps: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hu"/>
              <a:t>Hardcode parameters into bash script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hu"/>
              <a:t>Run small batch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hu"/>
              <a:t>Repeat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Interesting Results</a:t>
            </a:r>
            <a:endParaRPr/>
          </a:p>
        </p:txBody>
      </p:sp>
      <p:sp>
        <p:nvSpPr>
          <p:cNvPr id="367" name="Google Shape;367;p26"/>
          <p:cNvSpPr txBox="1"/>
          <p:nvPr>
            <p:ph idx="1" type="body"/>
          </p:nvPr>
        </p:nvSpPr>
        <p:spPr>
          <a:xfrm>
            <a:off x="1303800" y="1990050"/>
            <a:ext cx="38559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hu"/>
              <a:t>My binary tree is about twice as fast as std::map</a:t>
            </a:r>
            <a:endParaRPr/>
          </a:p>
        </p:txBody>
      </p:sp>
      <p:pic>
        <p:nvPicPr>
          <p:cNvPr id="368" name="Google Shape;368;p26" title="Képernyőkép 2026-05-14 0538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100" y="544725"/>
            <a:ext cx="3588200" cy="4446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Interesting Results</a:t>
            </a:r>
            <a:endParaRPr/>
          </a:p>
        </p:txBody>
      </p:sp>
      <p:sp>
        <p:nvSpPr>
          <p:cNvPr id="374" name="Google Shape;374;p27"/>
          <p:cNvSpPr txBox="1"/>
          <p:nvPr>
            <p:ph idx="1" type="body"/>
          </p:nvPr>
        </p:nvSpPr>
        <p:spPr>
          <a:xfrm>
            <a:off x="1303800" y="1990050"/>
            <a:ext cx="38559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My binary tree is about twice as fast as std::map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hu"/>
              <a:t>Though std::unordered_map is significantly faster</a:t>
            </a:r>
            <a:endParaRPr/>
          </a:p>
        </p:txBody>
      </p:sp>
      <p:pic>
        <p:nvPicPr>
          <p:cNvPr id="375" name="Google Shape;375;p27" title="Képernyőkép 2026-05-14 054153.png"/>
          <p:cNvPicPr preferRelativeResize="0"/>
          <p:nvPr/>
        </p:nvPicPr>
        <p:blipFill rotWithShape="1">
          <a:blip r:embed="rId3">
            <a:alphaModFix/>
          </a:blip>
          <a:srcRect b="0" l="980" r="971" t="0"/>
          <a:stretch/>
        </p:blipFill>
        <p:spPr>
          <a:xfrm>
            <a:off x="5479975" y="750225"/>
            <a:ext cx="3588200" cy="444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Interesting Results</a:t>
            </a:r>
            <a:endParaRPr/>
          </a:p>
        </p:txBody>
      </p:sp>
      <p:sp>
        <p:nvSpPr>
          <p:cNvPr id="381" name="Google Shape;381;p28"/>
          <p:cNvSpPr txBox="1"/>
          <p:nvPr>
            <p:ph idx="1" type="body"/>
          </p:nvPr>
        </p:nvSpPr>
        <p:spPr>
          <a:xfrm>
            <a:off x="1303800" y="1990050"/>
            <a:ext cx="38559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My binary tree is about twice as fast as std::map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/>
              <a:t>Though std::unordered_map is significantly faster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hu"/>
              <a:t>(if it has enough buckets)</a:t>
            </a:r>
            <a:endParaRPr/>
          </a:p>
        </p:txBody>
      </p:sp>
      <p:pic>
        <p:nvPicPr>
          <p:cNvPr id="382" name="Google Shape;382;p28" title="Képernyőkép 2026-05-14 0550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2650" y="722800"/>
            <a:ext cx="3979974" cy="461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Conclusion</a:t>
            </a:r>
            <a:endParaRPr/>
          </a:p>
        </p:txBody>
      </p:sp>
      <p:sp>
        <p:nvSpPr>
          <p:cNvPr id="388" name="Google Shape;388;p29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std::unordered_map is really good at dynamically choosing the right bucket count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Conclusion</a:t>
            </a:r>
            <a:endParaRPr/>
          </a:p>
        </p:txBody>
      </p:sp>
      <p:sp>
        <p:nvSpPr>
          <p:cNvPr id="394" name="Google Shape;394;p30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std::unordered_map is really good at dynamically choosing the right bucket count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std::map has something weird going on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Conclusion</a:t>
            </a:r>
            <a:endParaRPr/>
          </a:p>
        </p:txBody>
      </p:sp>
      <p:sp>
        <p:nvSpPr>
          <p:cNvPr id="400" name="Google Shape;400;p31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std::unordered_map is really good at dynamically choosing the right bucket count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std::map has something weird going 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Better code architecture will make your life much easier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2"/>
          <p:cNvSpPr txBox="1"/>
          <p:nvPr>
            <p:ph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Thank You</a:t>
            </a:r>
            <a:endParaRPr/>
          </a:p>
        </p:txBody>
      </p:sp>
      <p:sp>
        <p:nvSpPr>
          <p:cNvPr id="406" name="Google Shape;406;p32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